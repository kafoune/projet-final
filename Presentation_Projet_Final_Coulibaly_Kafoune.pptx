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267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10EC73-A391-FE4C-D82E-2431BEDB4836}" v="35" dt="2026-04-27T14:22:51.966"/>
    <p1510:client id="{9E5E5FB9-7C52-D2F0-AF95-75B470FCDE6B}" v="36" dt="2026-04-27T09:18:47.4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7T09:26:08.30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20966 4979 16383 0 0,'0'0'0'0'0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7T09:26:08.30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24934 4290 16383 0 0,'0'-3'0'0'0,"0"-4"0"0"0,0-4 0 0 0,0-2 0 0 0,0-3 0 0 0,0-2 0 0 0,0 0 0 0 0,0 0 0 0 0,0 0 0 0 0,0 0 0 0 0,0 6 0 0 0,3 5 0 0 0,1 7 0 0 0,-1 6 0 0 0,0 5 0 0 0,0 4 0 0 0,-2 2 0 0 0,0 1 0 0 0,-1 1 0 0 0,0 0 0 0 0,0-1 0 0 0,0 1 0 0 0,0-1 0 0 0,-1-1 0 0 0,1 1 0 0 0,0 0 0 0 0,0-1 0 0 0,0 1 0 0 0,0-1 0 0 0,0-6 0 0 0,-3-7 0 0 0,-1-8 0 0 0,1-6 0 0 0,-1-4 0 0 0,2-3 0 0 0,1-2 0 0 0,0 0 0 0 0,1 0 0 0 0,0 1 0 0 0,0-1 0 0 0,0 1 0 0 0,0 0 0 0 0,1 1 0 0 0,-4 2 0 0 0,-4 5 0 0 0,-1 6 0 0 0,1 7 0 0 0,2 6 0 0 0,2 5 0 0 0,1 2 0 0 0,1 2 0 0 0,0 1 0 0 0,1-6 0 0 0,1-8 0 0 0,-1-8 0 0 0,0-7 0 0 0,1 2 0 0 0,-1 5 0 0 0,-3 3 0 0 0,-1 5 0 0 0,0 4 0 0 0,1 4 0 0 0,1 2 0 0 0,1 2 0 0 0,0 1 0 0 0,1 0 0 0 0,0 0 0 0 0,3-2 0 0 0,4-5 0 0 0,1-1 0 0 0,2-2 0 0 0,2-3 0 0 0,2-1 0 0 0,2-3 0 0 0,-2 3 0 0 0,-4 3 0 0 0,-2 3 0 0 0,-7 0 0 0 0,-3 2 0 0 0,-1 1 0 0 0,-4-1 0 0 0,-2-3 0 0 0,-1-6 0 0 0,2-6 0 0 0,-1-3 0 0 0,1-4 0 0 0,-1 1 0 0 0,1-2 0 0 0,-1 2 0 0 0,4 1 0 0 0,6 3 0 0 0,5 2 0 0 0,5 2 0 0 0,4 0 0 0 0,2 1 0 0 0,1 1 0 0 0,1-1 0 0 0,-1 1 0 0 0,1-1 0 0 0,-4-3 0 0 0,-4-4 0 0 0,-4-3 0 0 0,-3-4 0 0 0,-2-2 0 0 0,-2-4 0 0 0,-1-2 0 0 0,1 0 0 0 0,-1 1 0 0 0,-3 0 0 0 0,0 2 0 0 0,0 0 0 0 0,0 2 0 0 0,2-1 0 0 0,1 1 0 0 0,-3 2 0 0 0,-3 5 0 0 0,-1 6 0 0 0,2 8 0 0 0,1 5 0 0 0,4 4 0 0 0,3 4 0 0 0,4-2 0 0 0,1 2 0 0 0,2 2 0 0 0,0 1 0 0 0,-2-1 0 0 0,-2 0 0 0 0,1-3 0 0 0,-1 1 0 0 0,0-5 0 0 0,-2-2 0 0 0,-1 1 0 0 0,-1 1 0 0 0,-1 2 0 0 0,0 1 0 0 0,0-2 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7T09:26:08.30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22024 2545 16383 0 0,'0'0'0'0'0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7T09:26:08.30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22087 2545 16383 0 0,'0'0'0'0'0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7T09:26:08.30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22066 2588 16383 0 0,'0'0'0'0'0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7T09:26:08.30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6678 3582 16383 0 0,'0'0'0'0'0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7T09:26:08.31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6678 3582 16383 0 0,'0'0'0'0'0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7T09:26:08.31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7588 3942 16383 0 0,'0'0'0'0'0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7T09:26:08.31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6953 4852 16383 0 0,'0'0'0'0'0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7T09:26:08.31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10954 7223 16383 0 0,'0'0'0'0'0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7T09:26:08.31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10890 6906 16383 0 0,'0'0'0'0'0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7T09:26:08.31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9917 6398 16383 0 0,'0'0'0'0'0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7T09:26:08.31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20331 5551 16383 0 0,'0'0'0'0'0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7T09:26:08.31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11271 5297 16383 0 0,'0'0'0'0'0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7T09:26:08.31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13811 5085 16383 0 0,'0'0'0'0'0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1646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453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7474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3911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7918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3864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4924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2978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2430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4941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1475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869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customXml" Target="../ink/ink9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customXml" Target="../ink/ink8.xml"/><Relationship Id="rId17" Type="http://schemas.openxmlformats.org/officeDocument/2006/relationships/customXml" Target="../ink/ink13.xml"/><Relationship Id="rId2" Type="http://schemas.openxmlformats.org/officeDocument/2006/relationships/image" Target="../media/image5.png"/><Relationship Id="rId16" Type="http://schemas.openxmlformats.org/officeDocument/2006/relationships/customXml" Target="../ink/ink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customXml" Target="../ink/ink7.xml"/><Relationship Id="rId5" Type="http://schemas.openxmlformats.org/officeDocument/2006/relationships/customXml" Target="../ink/ink2.xml"/><Relationship Id="rId15" Type="http://schemas.openxmlformats.org/officeDocument/2006/relationships/customXml" Target="../ink/ink11.xml"/><Relationship Id="rId10" Type="http://schemas.openxmlformats.org/officeDocument/2006/relationships/customXml" Target="../ink/ink6.xml"/><Relationship Id="rId4" Type="http://schemas.openxmlformats.org/officeDocument/2006/relationships/image" Target="../media/image6.png"/><Relationship Id="rId9" Type="http://schemas.openxmlformats.org/officeDocument/2006/relationships/customXml" Target="../ink/ink5.xml"/><Relationship Id="rId14" Type="http://schemas.openxmlformats.org/officeDocument/2006/relationships/customXml" Target="../ink/ink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customXml" Target="../ink/ink15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307" y="1383322"/>
            <a:ext cx="9185753" cy="2064011"/>
          </a:xfrm>
        </p:spPr>
        <p:txBody>
          <a:bodyPr>
            <a:normAutofit fontScale="90000"/>
          </a:bodyPr>
          <a:lstStyle/>
          <a:p>
            <a:r>
              <a:rPr lang="fr-FR" dirty="0"/>
              <a:t>PROJET FINAL : </a:t>
            </a:r>
            <a:br>
              <a:rPr lang="fr-FR" dirty="0"/>
            </a:br>
            <a:r>
              <a:rPr lang="fr-FR" dirty="0"/>
              <a:t>Analyse des retards de </a:t>
            </a:r>
            <a:r>
              <a:rPr lang="fr-FR"/>
              <a:t>livraison 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4192536" y="5527914"/>
            <a:ext cx="7634121" cy="951173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r"/>
            <a:r>
              <a:rPr lang="fr-FR" sz="2100" dirty="0"/>
              <a:t>Coulibaly </a:t>
            </a:r>
            <a:r>
              <a:rPr lang="fr-FR" sz="2100" dirty="0" err="1"/>
              <a:t>Kafouné</a:t>
            </a:r>
            <a:endParaRPr lang="fr-FR" sz="2100"/>
          </a:p>
          <a:p>
            <a:pPr algn="r"/>
            <a:r>
              <a:rPr lang="fr-FR" sz="2100" dirty="0"/>
              <a:t>Formation Data </a:t>
            </a:r>
            <a:r>
              <a:rPr lang="fr-FR" sz="2100" dirty="0" err="1"/>
              <a:t>Analyst</a:t>
            </a:r>
            <a:r>
              <a:rPr lang="fr-FR" sz="2100" dirty="0"/>
              <a:t> – </a:t>
            </a:r>
            <a:r>
              <a:rPr lang="fr-FR" sz="2100" dirty="0" err="1"/>
              <a:t>DataSuits</a:t>
            </a:r>
            <a:r>
              <a:rPr lang="fr-FR" sz="2100" dirty="0"/>
              <a:t> x Paris 1 Panthéon-Sorbonne</a:t>
            </a:r>
          </a:p>
          <a:p>
            <a:pPr algn="r"/>
            <a:r>
              <a:rPr lang="fr-FR" sz="2100"/>
              <a:t>20 avril 2026</a:t>
            </a:r>
            <a:endParaRPr lang="fr-FR" sz="2100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2D45C0B-FA6E-8419-5FF5-07989C91C7DD}"/>
              </a:ext>
            </a:extLst>
          </p:cNvPr>
          <p:cNvSpPr txBox="1"/>
          <p:nvPr/>
        </p:nvSpPr>
        <p:spPr>
          <a:xfrm>
            <a:off x="5950389" y="3766245"/>
            <a:ext cx="477431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2800" dirty="0">
                <a:latin typeface="Aptos Display"/>
              </a:rPr>
              <a:t>Cas de l'entreprise </a:t>
            </a:r>
            <a:r>
              <a:rPr lang="fr-FR" sz="2800" dirty="0" err="1">
                <a:latin typeface="Aptos Display"/>
              </a:rPr>
              <a:t>OptiDeliver</a:t>
            </a:r>
            <a:endParaRPr lang="fr-FR" sz="3200" dirty="0" err="1"/>
          </a:p>
        </p:txBody>
      </p:sp>
    </p:spTree>
    <p:extLst>
      <p:ext uri="{BB962C8B-B14F-4D97-AF65-F5344CB8AC3E}">
        <p14:creationId xmlns:p14="http://schemas.microsoft.com/office/powerpoint/2010/main" val="3784089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Une image contenant texte, véhicule, Véhicule terrestre, logo&#10;&#10;Le contenu généré par l’IA peut être incorrect.">
            <a:extLst>
              <a:ext uri="{FF2B5EF4-FFF2-40B4-BE49-F238E27FC236}">
                <a16:creationId xmlns:a16="http://schemas.microsoft.com/office/drawing/2014/main" id="{AFAE2B12-2BEB-2B4B-A400-8760DAFACA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14" r="3069" b="-1"/>
          <a:stretch>
            <a:fillRect/>
          </a:stretch>
        </p:blipFill>
        <p:spPr>
          <a:xfrm>
            <a:off x="3978047" y="1764092"/>
            <a:ext cx="8210267" cy="509836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C6B55163-3496-54C6-A970-98784893A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2582" y="365125"/>
            <a:ext cx="4685042" cy="958619"/>
          </a:xfrm>
        </p:spPr>
        <p:txBody>
          <a:bodyPr>
            <a:normAutofit/>
          </a:bodyPr>
          <a:lstStyle/>
          <a:p>
            <a:pPr algn="ctr"/>
            <a:r>
              <a:rPr lang="fr-FR" sz="4000"/>
              <a:t>INTRODUCTION</a:t>
            </a:r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F6B731B-60E6-BCE1-C0A1-A4EE8C78E4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759" y="2254907"/>
            <a:ext cx="6493026" cy="174044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fr-FR" sz="2600"/>
              <a:t>Chaque année, les entreprises de transport perdent jusqu'à</a:t>
            </a:r>
            <a:r>
              <a:rPr lang="fr-FR" sz="2600" dirty="0">
                <a:solidFill>
                  <a:srgbClr val="FF0000"/>
                </a:solidFill>
              </a:rPr>
              <a:t> </a:t>
            </a:r>
            <a:r>
              <a:rPr lang="fr-FR" sz="2600" b="1">
                <a:solidFill>
                  <a:srgbClr val="FF0000"/>
                </a:solidFill>
              </a:rPr>
              <a:t>3%</a:t>
            </a:r>
            <a:r>
              <a:rPr lang="fr-FR" sz="2600" dirty="0"/>
              <a:t> </a:t>
            </a:r>
            <a:r>
              <a:rPr lang="fr-FR" sz="2600"/>
              <a:t>de leur chiffre d'affaires à cause des</a:t>
            </a:r>
            <a:r>
              <a:rPr lang="fr-FR" sz="2600" dirty="0">
                <a:solidFill>
                  <a:srgbClr val="FF0000"/>
                </a:solidFill>
              </a:rPr>
              <a:t> </a:t>
            </a:r>
            <a:r>
              <a:rPr lang="fr-FR" sz="2600" b="1">
                <a:solidFill>
                  <a:srgbClr val="FF0000"/>
                </a:solidFill>
              </a:rPr>
              <a:t>performances logistiques</a:t>
            </a:r>
            <a:r>
              <a:rPr lang="fr-FR" sz="2400" dirty="0">
                <a:solidFill>
                  <a:srgbClr val="FF0000"/>
                </a:solidFill>
              </a:rPr>
              <a:t> </a:t>
            </a:r>
            <a:r>
              <a:rPr lang="fr-FR" sz="2400" dirty="0"/>
              <a:t>  </a:t>
            </a:r>
            <a:r>
              <a:rPr lang="fr-FR" sz="2000" dirty="0"/>
              <a:t>  </a:t>
            </a:r>
          </a:p>
          <a:p>
            <a:pPr marL="0" indent="0">
              <a:buNone/>
            </a:pPr>
            <a:r>
              <a:rPr lang="fr-FR" sz="2000" dirty="0"/>
              <a:t>                             </a:t>
            </a:r>
          </a:p>
        </p:txBody>
      </p:sp>
      <p:pic>
        <p:nvPicPr>
          <p:cNvPr id="5" name="Image 4" descr="Une image contenant logo, Police, cercle, symbole&#10;&#10;Le contenu généré par l’IA peut être incorrect.">
            <a:extLst>
              <a:ext uri="{FF2B5EF4-FFF2-40B4-BE49-F238E27FC236}">
                <a16:creationId xmlns:a16="http://schemas.microsoft.com/office/drawing/2014/main" id="{26A9A078-A028-8C0C-ED2F-3A2B29A18A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1" y="532357"/>
            <a:ext cx="1732766" cy="1597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412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FFDE45E-BF73-7B0C-7610-E193394039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34154"/>
            <a:ext cx="10515600" cy="2648044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buNone/>
            </a:pPr>
            <a:r>
              <a:rPr lang="fr-FR" sz="3600" b="1" i="1">
                <a:solidFill>
                  <a:srgbClr val="000000"/>
                </a:solidFill>
                <a:latin typeface="Times New Roman"/>
                <a:cs typeface="Times New Roman"/>
              </a:rPr>
              <a:t>Comment optimiser les délais de livraison en fonction </a:t>
            </a:r>
            <a:r>
              <a:rPr lang="fr-FR" sz="3600" b="1" i="1" dirty="0">
                <a:solidFill>
                  <a:srgbClr val="000000"/>
                </a:solidFill>
                <a:latin typeface="Times New Roman"/>
                <a:cs typeface="Times New Roman"/>
              </a:rPr>
              <a:t>des contraintes logistiques ? </a:t>
            </a:r>
            <a:endParaRPr lang="fr-FR" sz="3600" b="1" dirty="0"/>
          </a:p>
          <a:p>
            <a:pPr marL="0" indent="0">
              <a:buNone/>
            </a:pPr>
            <a:br>
              <a:rPr lang="en-US" sz="3200" b="1" dirty="0"/>
            </a:br>
            <a:endParaRPr lang="en-US" sz="3200" b="1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8ABCA5F-0ED5-DEF7-AA05-DE6739AB914A}"/>
              </a:ext>
            </a:extLst>
          </p:cNvPr>
          <p:cNvSpPr txBox="1"/>
          <p:nvPr/>
        </p:nvSpPr>
        <p:spPr>
          <a:xfrm>
            <a:off x="3206209" y="406026"/>
            <a:ext cx="603439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4000"/>
              <a:t>PROBLEMATIQUE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51692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9F6896-D63B-0531-79EF-8DCFD45E0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/>
              <a:t>PLAN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AC0B91B-5EAC-2E3D-420B-4229902469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17830"/>
            <a:ext cx="10515600" cy="395913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AutoNum type="arabicPeriod"/>
            </a:pPr>
            <a:r>
              <a:rPr lang="fr-FR">
                <a:latin typeface="Times New Roman"/>
                <a:cs typeface="Times New Roman"/>
              </a:rPr>
              <a:t>Performance des livraisons</a:t>
            </a:r>
          </a:p>
          <a:p>
            <a:pPr marL="514350" indent="-514350">
              <a:buAutoNum type="arabicPeriod"/>
            </a:pPr>
            <a:r>
              <a:rPr lang="fr-FR" dirty="0">
                <a:latin typeface="Times New Roman"/>
                <a:cs typeface="Times New Roman"/>
              </a:rPr>
              <a:t>Principaux facteurs </a:t>
            </a:r>
            <a:r>
              <a:rPr lang="fr-FR">
                <a:latin typeface="Times New Roman"/>
                <a:cs typeface="Times New Roman"/>
              </a:rPr>
              <a:t>impactant</a:t>
            </a:r>
            <a:r>
              <a:rPr lang="fr-FR" dirty="0">
                <a:latin typeface="Times New Roman"/>
                <a:cs typeface="Times New Roman"/>
              </a:rPr>
              <a:t> les délais de livraison </a:t>
            </a:r>
          </a:p>
          <a:p>
            <a:pPr marL="514350" indent="-514350">
              <a:buAutoNum type="arabicPeriod"/>
            </a:pPr>
            <a:r>
              <a:rPr lang="fr-FR">
                <a:latin typeface="Times New Roman"/>
                <a:cs typeface="Times New Roman"/>
              </a:rPr>
              <a:t>Recommandations concrètes et actionnables </a:t>
            </a:r>
          </a:p>
        </p:txBody>
      </p:sp>
    </p:spTree>
    <p:extLst>
      <p:ext uri="{BB962C8B-B14F-4D97-AF65-F5344CB8AC3E}">
        <p14:creationId xmlns:p14="http://schemas.microsoft.com/office/powerpoint/2010/main" val="640282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EC8D73-A62F-C876-B1B0-B21FAFF71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3372"/>
            <a:ext cx="10515600" cy="6127206"/>
          </a:xfrm>
        </p:spPr>
        <p:txBody>
          <a:bodyPr/>
          <a:lstStyle/>
          <a:p>
            <a:pPr marL="742950" indent="-742950">
              <a:buAutoNum type="arabicPeriod"/>
            </a:pPr>
            <a:r>
              <a:rPr lang="fr-FR" sz="4000" dirty="0"/>
              <a:t>Performance des livraisons : situation </a:t>
            </a:r>
            <a:r>
              <a:rPr lang="fr-FR" sz="4000"/>
              <a:t>actuelle </a:t>
            </a:r>
            <a:endParaRPr lang="fr-FR" sz="4000" dirty="0"/>
          </a:p>
        </p:txBody>
      </p:sp>
    </p:spTree>
    <p:extLst>
      <p:ext uri="{BB962C8B-B14F-4D97-AF65-F5344CB8AC3E}">
        <p14:creationId xmlns:p14="http://schemas.microsoft.com/office/powerpoint/2010/main" val="4190340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Une image contenant texte, capture d’écran, logiciel, Police&#10;&#10;Le contenu généré par l’IA peut être incorrect.">
            <a:extLst>
              <a:ext uri="{FF2B5EF4-FFF2-40B4-BE49-F238E27FC236}">
                <a16:creationId xmlns:a16="http://schemas.microsoft.com/office/drawing/2014/main" id="{C4AB9119-B35A-CECB-D428-8353DB08A8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94"/>
            <a:ext cx="12212876" cy="6851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6290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DB52EE-1765-AD93-44A0-0817C6917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52795"/>
            <a:ext cx="10515600" cy="1377755"/>
          </a:xfrm>
        </p:spPr>
        <p:txBody>
          <a:bodyPr>
            <a:normAutofit/>
          </a:bodyPr>
          <a:lstStyle/>
          <a:p>
            <a:pPr algn="ctr"/>
            <a:r>
              <a:rPr lang="fr-FR" sz="4000" dirty="0"/>
              <a:t>2.    Facteurs </a:t>
            </a:r>
            <a:r>
              <a:rPr lang="fr-FR" sz="4000" dirty="0" err="1"/>
              <a:t>impactants</a:t>
            </a:r>
            <a:r>
              <a:rPr lang="fr-FR" sz="4000" dirty="0"/>
              <a:t> les délais de livraison</a:t>
            </a:r>
          </a:p>
        </p:txBody>
      </p:sp>
    </p:spTree>
    <p:extLst>
      <p:ext uri="{BB962C8B-B14F-4D97-AF65-F5344CB8AC3E}">
        <p14:creationId xmlns:p14="http://schemas.microsoft.com/office/powerpoint/2010/main" val="20702363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3CD72502-E47C-63A5-4EFA-C8BBF732F7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936" y="2067447"/>
            <a:ext cx="5372100" cy="3860886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C59E1929-F979-4CBA-3520-B5DEEDFFEA1D}"/>
              </a:ext>
            </a:extLst>
          </p:cNvPr>
          <p:cNvSpPr txBox="1"/>
          <p:nvPr/>
        </p:nvSpPr>
        <p:spPr>
          <a:xfrm>
            <a:off x="4264116" y="560036"/>
            <a:ext cx="498991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3600" dirty="0"/>
              <a:t>Mode de </a:t>
            </a:r>
            <a:r>
              <a:rPr lang="fr-FR" sz="3600"/>
              <a:t>livraison </a:t>
            </a:r>
            <a:endParaRPr lang="fr-FR" sz="3600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49EE99D-8504-4E23-49B1-6DFB56BC24DF}"/>
              </a:ext>
            </a:extLst>
          </p:cNvPr>
          <p:cNvSpPr txBox="1"/>
          <p:nvPr/>
        </p:nvSpPr>
        <p:spPr>
          <a:xfrm>
            <a:off x="6585167" y="2730178"/>
            <a:ext cx="534234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2000" b="1" dirty="0">
                <a:solidFill>
                  <a:srgbClr val="FF0000"/>
                </a:solidFill>
              </a:rPr>
              <a:t>4031</a:t>
            </a:r>
            <a:r>
              <a:rPr lang="fr-FR" sz="2000" dirty="0"/>
              <a:t> livraisons en retard en livra</a:t>
            </a:r>
            <a:r>
              <a:rPr lang="fr-FR" sz="2000"/>
              <a:t>ison "</a:t>
            </a:r>
            <a:r>
              <a:rPr lang="fr-FR" sz="2000" b="1">
                <a:solidFill>
                  <a:srgbClr val="FF0000"/>
                </a:solidFill>
              </a:rPr>
              <a:t>express</a:t>
            </a:r>
            <a:r>
              <a:rPr lang="fr-FR" sz="2000"/>
              <a:t>"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F8097787-9134-6862-B13F-3CC7A98784F6}"/>
              </a:ext>
            </a:extLst>
          </p:cNvPr>
          <p:cNvSpPr txBox="1"/>
          <p:nvPr/>
        </p:nvSpPr>
        <p:spPr>
          <a:xfrm>
            <a:off x="6598492" y="3304964"/>
            <a:ext cx="5204279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2000" dirty="0"/>
              <a:t>Plus le </a:t>
            </a:r>
            <a:r>
              <a:rPr lang="fr-FR" sz="2000" b="1" dirty="0">
                <a:solidFill>
                  <a:srgbClr val="FF0000"/>
                </a:solidFill>
              </a:rPr>
              <a:t>délai est court</a:t>
            </a:r>
            <a:r>
              <a:rPr lang="fr-FR" sz="2000" dirty="0"/>
              <a:t>, plus le risque de </a:t>
            </a:r>
            <a:r>
              <a:rPr lang="fr-FR" sz="2000" b="1" dirty="0">
                <a:solidFill>
                  <a:srgbClr val="FF0000"/>
                </a:solidFill>
              </a:rPr>
              <a:t>retard est </a:t>
            </a:r>
            <a:r>
              <a:rPr lang="fr-FR" sz="2000" b="1">
                <a:solidFill>
                  <a:srgbClr val="FF0000"/>
                </a:solidFill>
              </a:rPr>
              <a:t>élevé </a:t>
            </a:r>
            <a:endParaRPr lang="fr-FR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284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79A134F-133E-79AC-39A1-193F225D1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4006" y="365125"/>
            <a:ext cx="4304780" cy="1127234"/>
          </a:xfrm>
        </p:spPr>
        <p:txBody>
          <a:bodyPr>
            <a:normAutofit/>
          </a:bodyPr>
          <a:lstStyle/>
          <a:p>
            <a:r>
              <a:rPr lang="fr-FR" sz="3600">
                <a:latin typeface="Aptos"/>
                <a:cs typeface="Times New Roman"/>
              </a:rPr>
              <a:t>Distance de livraison </a:t>
            </a:r>
            <a:endParaRPr lang="fr-FR" sz="3600" dirty="0">
              <a:latin typeface="Aptos"/>
              <a:cs typeface="Times New Roman"/>
            </a:endParaRPr>
          </a:p>
        </p:txBody>
      </p:sp>
      <p:pic>
        <p:nvPicPr>
          <p:cNvPr id="4" name="Image 3" descr="Une image contenant texte, capture d’écran, diagramme, Tracé&#10;&#10;Le contenu généré par l’IA peut être incorrect.">
            <a:extLst>
              <a:ext uri="{FF2B5EF4-FFF2-40B4-BE49-F238E27FC236}">
                <a16:creationId xmlns:a16="http://schemas.microsoft.com/office/drawing/2014/main" id="{41A89378-2DF3-C17C-D89A-63D6013CC2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8126" y="1865530"/>
            <a:ext cx="6689420" cy="4609186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A75BF037-2D23-BDD0-2008-EFED0C6992A1}"/>
              </a:ext>
            </a:extLst>
          </p:cNvPr>
          <p:cNvSpPr txBox="1"/>
          <p:nvPr/>
        </p:nvSpPr>
        <p:spPr>
          <a:xfrm>
            <a:off x="420027" y="3305357"/>
            <a:ext cx="403226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b="1" dirty="0">
                <a:solidFill>
                  <a:srgbClr val="FF0000"/>
                </a:solidFill>
              </a:rPr>
              <a:t>1396 </a:t>
            </a:r>
            <a:r>
              <a:rPr lang="fr-FR"/>
              <a:t>livraisons en retard </a:t>
            </a:r>
            <a:r>
              <a:rPr lang="fr-FR" dirty="0"/>
              <a:t>au-delà de </a:t>
            </a:r>
            <a:r>
              <a:rPr lang="fr-FR" b="1" dirty="0">
                <a:solidFill>
                  <a:srgbClr val="FF0000"/>
                </a:solidFill>
              </a:rPr>
              <a:t>250 km</a:t>
            </a:r>
            <a:r>
              <a:rPr lang="fr-FR" dirty="0"/>
              <a:t> de distance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DF7B1687-FB39-C21B-C738-D9615891B760}"/>
              </a:ext>
            </a:extLst>
          </p:cNvPr>
          <p:cNvSpPr txBox="1"/>
          <p:nvPr/>
        </p:nvSpPr>
        <p:spPr>
          <a:xfrm>
            <a:off x="417214" y="4163475"/>
            <a:ext cx="3758621" cy="65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dirty="0"/>
              <a:t>Plus la distance est importante, plus les retards augmente</a:t>
            </a:r>
            <a:r>
              <a:rPr lang="fr-FR"/>
              <a:t>nt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61B1926-99AE-D78A-2102-E38BED6907F7}"/>
              </a:ext>
            </a:extLst>
          </p:cNvPr>
          <p:cNvSpPr txBox="1"/>
          <p:nvPr/>
        </p:nvSpPr>
        <p:spPr>
          <a:xfrm>
            <a:off x="1025629" y="2181577"/>
            <a:ext cx="3616369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/>
              <a:t>Entre </a:t>
            </a:r>
            <a:r>
              <a:rPr lang="fr-FR" b="1">
                <a:solidFill>
                  <a:srgbClr val="FF0000"/>
                </a:solidFill>
              </a:rPr>
              <a:t>100 et 200 km</a:t>
            </a:r>
            <a:r>
              <a:rPr lang="fr-FR"/>
              <a:t>, le nombre de livraisons en retard passe de </a:t>
            </a:r>
            <a:r>
              <a:rPr lang="fr-FR" b="1">
                <a:solidFill>
                  <a:srgbClr val="FF0000"/>
                </a:solidFill>
              </a:rPr>
              <a:t>800 à 1099</a:t>
            </a:r>
          </a:p>
        </p:txBody>
      </p: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531AF7EB-4364-2884-8B6A-3AE1BCBADB26}"/>
              </a:ext>
            </a:extLst>
          </p:cNvPr>
          <p:cNvCxnSpPr/>
          <p:nvPr/>
        </p:nvCxnSpPr>
        <p:spPr>
          <a:xfrm flipV="1">
            <a:off x="461032" y="2207563"/>
            <a:ext cx="389381" cy="655571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Encre 2">
                <a:extLst>
                  <a:ext uri="{FF2B5EF4-FFF2-40B4-BE49-F238E27FC236}">
                    <a16:creationId xmlns:a16="http://schemas.microsoft.com/office/drawing/2014/main" id="{2D3C903D-47EB-3141-0182-2E9FD9BF9740}"/>
                  </a:ext>
                </a:extLst>
              </p14:cNvPr>
              <p14:cNvContentPartPr/>
              <p14:nvPr/>
            </p14:nvContentPartPr>
            <p14:xfrm>
              <a:off x="8269941" y="2047874"/>
              <a:ext cx="14007" cy="14007"/>
            </p14:xfrm>
          </p:contentPart>
        </mc:Choice>
        <mc:Fallback xmlns="">
          <p:pic>
            <p:nvPicPr>
              <p:cNvPr id="3" name="Encre 2">
                <a:extLst>
                  <a:ext uri="{FF2B5EF4-FFF2-40B4-BE49-F238E27FC236}">
                    <a16:creationId xmlns:a16="http://schemas.microsoft.com/office/drawing/2014/main" id="{2D3C903D-47EB-3141-0182-2E9FD9BF974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583598" y="1347524"/>
                <a:ext cx="1400700" cy="14007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4" name="Encre 13">
                <a:extLst>
                  <a:ext uri="{FF2B5EF4-FFF2-40B4-BE49-F238E27FC236}">
                    <a16:creationId xmlns:a16="http://schemas.microsoft.com/office/drawing/2014/main" id="{B547CFD9-3380-8FEE-28FA-451C98407A97}"/>
                  </a:ext>
                </a:extLst>
              </p14:cNvPr>
              <p14:cNvContentPartPr/>
              <p14:nvPr/>
            </p14:nvContentPartPr>
            <p14:xfrm>
              <a:off x="8202247" y="1972050"/>
              <a:ext cx="69967" cy="136891"/>
            </p14:xfrm>
          </p:contentPart>
        </mc:Choice>
        <mc:Fallback xmlns="">
          <p:pic>
            <p:nvPicPr>
              <p:cNvPr id="14" name="Encre 13">
                <a:extLst>
                  <a:ext uri="{FF2B5EF4-FFF2-40B4-BE49-F238E27FC236}">
                    <a16:creationId xmlns:a16="http://schemas.microsoft.com/office/drawing/2014/main" id="{B547CFD9-3380-8FEE-28FA-451C98407A9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184666" y="1954445"/>
                <a:ext cx="105489" cy="1724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5" name="Encre 14">
                <a:extLst>
                  <a:ext uri="{FF2B5EF4-FFF2-40B4-BE49-F238E27FC236}">
                    <a16:creationId xmlns:a16="http://schemas.microsoft.com/office/drawing/2014/main" id="{182D3A04-F50E-BA5E-7BF6-F5CA4F24C8B5}"/>
                  </a:ext>
                </a:extLst>
              </p14:cNvPr>
              <p14:cNvContentPartPr/>
              <p14:nvPr/>
            </p14:nvContentPartPr>
            <p14:xfrm>
              <a:off x="8240138" y="2085367"/>
              <a:ext cx="10132" cy="10132"/>
            </p14:xfrm>
          </p:contentPart>
        </mc:Choice>
        <mc:Fallback xmlns="">
          <p:pic>
            <p:nvPicPr>
              <p:cNvPr id="15" name="Encre 14">
                <a:extLst>
                  <a:ext uri="{FF2B5EF4-FFF2-40B4-BE49-F238E27FC236}">
                    <a16:creationId xmlns:a16="http://schemas.microsoft.com/office/drawing/2014/main" id="{182D3A04-F50E-BA5E-7BF6-F5CA4F24C8B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743670" y="1578767"/>
                <a:ext cx="1013200" cy="101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6" name="Encre 15">
                <a:extLst>
                  <a:ext uri="{FF2B5EF4-FFF2-40B4-BE49-F238E27FC236}">
                    <a16:creationId xmlns:a16="http://schemas.microsoft.com/office/drawing/2014/main" id="{22FF07F6-83D0-D822-D308-DCCA9AE7564B}"/>
                  </a:ext>
                </a:extLst>
              </p14:cNvPr>
              <p14:cNvContentPartPr/>
              <p14:nvPr/>
            </p14:nvContentPartPr>
            <p14:xfrm>
              <a:off x="8264457" y="2085367"/>
              <a:ext cx="10132" cy="10132"/>
            </p14:xfrm>
          </p:contentPart>
        </mc:Choice>
        <mc:Fallback xmlns="">
          <p:pic>
            <p:nvPicPr>
              <p:cNvPr id="16" name="Encre 15">
                <a:extLst>
                  <a:ext uri="{FF2B5EF4-FFF2-40B4-BE49-F238E27FC236}">
                    <a16:creationId xmlns:a16="http://schemas.microsoft.com/office/drawing/2014/main" id="{22FF07F6-83D0-D822-D308-DCCA9AE7564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757857" y="1578767"/>
                <a:ext cx="1013200" cy="101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7" name="Encre 16">
                <a:extLst>
                  <a:ext uri="{FF2B5EF4-FFF2-40B4-BE49-F238E27FC236}">
                    <a16:creationId xmlns:a16="http://schemas.microsoft.com/office/drawing/2014/main" id="{134FA82F-FD45-D494-4217-C51AA375A60E}"/>
                  </a:ext>
                </a:extLst>
              </p14:cNvPr>
              <p14:cNvContentPartPr/>
              <p14:nvPr/>
            </p14:nvContentPartPr>
            <p14:xfrm>
              <a:off x="8256351" y="2101580"/>
              <a:ext cx="10132" cy="10132"/>
            </p14:xfrm>
          </p:contentPart>
        </mc:Choice>
        <mc:Fallback xmlns="">
          <p:pic>
            <p:nvPicPr>
              <p:cNvPr id="17" name="Encre 16">
                <a:extLst>
                  <a:ext uri="{FF2B5EF4-FFF2-40B4-BE49-F238E27FC236}">
                    <a16:creationId xmlns:a16="http://schemas.microsoft.com/office/drawing/2014/main" id="{134FA82F-FD45-D494-4217-C51AA375A60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749751" y="1605112"/>
                <a:ext cx="1013200" cy="101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9" name="Encre 18">
                <a:extLst>
                  <a:ext uri="{FF2B5EF4-FFF2-40B4-BE49-F238E27FC236}">
                    <a16:creationId xmlns:a16="http://schemas.microsoft.com/office/drawing/2014/main" id="{8A1918DD-6C7C-CA27-F87F-DC2D31F91782}"/>
                  </a:ext>
                </a:extLst>
              </p14:cNvPr>
              <p14:cNvContentPartPr/>
              <p14:nvPr/>
            </p14:nvContentPartPr>
            <p14:xfrm>
              <a:off x="2363011" y="2482580"/>
              <a:ext cx="10132" cy="10132"/>
            </p14:xfrm>
          </p:contentPart>
        </mc:Choice>
        <mc:Fallback xmlns="">
          <p:pic>
            <p:nvPicPr>
              <p:cNvPr id="19" name="Encre 18">
                <a:extLst>
                  <a:ext uri="{FF2B5EF4-FFF2-40B4-BE49-F238E27FC236}">
                    <a16:creationId xmlns:a16="http://schemas.microsoft.com/office/drawing/2014/main" id="{8A1918DD-6C7C-CA27-F87F-DC2D31F9178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56411" y="1975980"/>
                <a:ext cx="1013200" cy="101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0" name="Encre 19">
                <a:extLst>
                  <a:ext uri="{FF2B5EF4-FFF2-40B4-BE49-F238E27FC236}">
                    <a16:creationId xmlns:a16="http://schemas.microsoft.com/office/drawing/2014/main" id="{2C0B682B-0B6A-0B24-83AF-11798586C1A8}"/>
                  </a:ext>
                </a:extLst>
              </p14:cNvPr>
              <p14:cNvContentPartPr/>
              <p14:nvPr/>
            </p14:nvContentPartPr>
            <p14:xfrm>
              <a:off x="2363011" y="2482580"/>
              <a:ext cx="10132" cy="10132"/>
            </p14:xfrm>
          </p:contentPart>
        </mc:Choice>
        <mc:Fallback xmlns="">
          <p:pic>
            <p:nvPicPr>
              <p:cNvPr id="20" name="Encre 19">
                <a:extLst>
                  <a:ext uri="{FF2B5EF4-FFF2-40B4-BE49-F238E27FC236}">
                    <a16:creationId xmlns:a16="http://schemas.microsoft.com/office/drawing/2014/main" id="{2C0B682B-0B6A-0B24-83AF-11798586C1A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56411" y="1975980"/>
                <a:ext cx="1013200" cy="101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1" name="Encre 20">
                <a:extLst>
                  <a:ext uri="{FF2B5EF4-FFF2-40B4-BE49-F238E27FC236}">
                    <a16:creationId xmlns:a16="http://schemas.microsoft.com/office/drawing/2014/main" id="{DD4C659B-ADA9-79E1-3769-BBEAC7AD89A6}"/>
                  </a:ext>
                </a:extLst>
              </p14:cNvPr>
              <p14:cNvContentPartPr/>
              <p14:nvPr/>
            </p14:nvContentPartPr>
            <p14:xfrm>
              <a:off x="2711585" y="2620388"/>
              <a:ext cx="10132" cy="10132"/>
            </p14:xfrm>
          </p:contentPart>
        </mc:Choice>
        <mc:Fallback xmlns="">
          <p:pic>
            <p:nvPicPr>
              <p:cNvPr id="21" name="Encre 20">
                <a:extLst>
                  <a:ext uri="{FF2B5EF4-FFF2-40B4-BE49-F238E27FC236}">
                    <a16:creationId xmlns:a16="http://schemas.microsoft.com/office/drawing/2014/main" id="{DD4C659B-ADA9-79E1-3769-BBEAC7AD89A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04985" y="2113788"/>
                <a:ext cx="1013200" cy="101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2" name="Encre 21">
                <a:extLst>
                  <a:ext uri="{FF2B5EF4-FFF2-40B4-BE49-F238E27FC236}">
                    <a16:creationId xmlns:a16="http://schemas.microsoft.com/office/drawing/2014/main" id="{8AC6080E-C601-0273-9CC6-3B4E61152B86}"/>
                  </a:ext>
                </a:extLst>
              </p14:cNvPr>
              <p14:cNvContentPartPr/>
              <p14:nvPr/>
            </p14:nvContentPartPr>
            <p14:xfrm>
              <a:off x="2468394" y="2968963"/>
              <a:ext cx="10132" cy="10132"/>
            </p14:xfrm>
          </p:contentPart>
        </mc:Choice>
        <mc:Fallback xmlns="">
          <p:pic>
            <p:nvPicPr>
              <p:cNvPr id="22" name="Encre 21">
                <a:extLst>
                  <a:ext uri="{FF2B5EF4-FFF2-40B4-BE49-F238E27FC236}">
                    <a16:creationId xmlns:a16="http://schemas.microsoft.com/office/drawing/2014/main" id="{8AC6080E-C601-0273-9CC6-3B4E61152B8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61794" y="2462363"/>
                <a:ext cx="1013200" cy="101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3" name="Encre 22">
                <a:extLst>
                  <a:ext uri="{FF2B5EF4-FFF2-40B4-BE49-F238E27FC236}">
                    <a16:creationId xmlns:a16="http://schemas.microsoft.com/office/drawing/2014/main" id="{9AB90BA2-0544-4ABE-A7B1-6198CC39D64E}"/>
                  </a:ext>
                </a:extLst>
              </p14:cNvPr>
              <p14:cNvContentPartPr/>
              <p14:nvPr/>
            </p14:nvContentPartPr>
            <p14:xfrm>
              <a:off x="2914366" y="3227127"/>
              <a:ext cx="14216" cy="14216"/>
            </p14:xfrm>
          </p:contentPart>
        </mc:Choice>
        <mc:Fallback xmlns="">
          <p:pic>
            <p:nvPicPr>
              <p:cNvPr id="23" name="Encre 22">
                <a:extLst>
                  <a:ext uri="{FF2B5EF4-FFF2-40B4-BE49-F238E27FC236}">
                    <a16:creationId xmlns:a16="http://schemas.microsoft.com/office/drawing/2014/main" id="{9AB90BA2-0544-4ABE-A7B1-6198CC39D64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17782" y="2516327"/>
                <a:ext cx="1421600" cy="14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4" name="Encre 23">
                <a:extLst>
                  <a:ext uri="{FF2B5EF4-FFF2-40B4-BE49-F238E27FC236}">
                    <a16:creationId xmlns:a16="http://schemas.microsoft.com/office/drawing/2014/main" id="{BC532E85-E4E6-F2D1-30DE-155D994CCB12}"/>
                  </a:ext>
                </a:extLst>
              </p14:cNvPr>
              <p14:cNvContentPartPr/>
              <p14:nvPr/>
            </p14:nvContentPartPr>
            <p14:xfrm>
              <a:off x="2880246" y="3056530"/>
              <a:ext cx="14216" cy="14216"/>
            </p14:xfrm>
          </p:contentPart>
        </mc:Choice>
        <mc:Fallback xmlns="">
          <p:pic>
            <p:nvPicPr>
              <p:cNvPr id="24" name="Encre 23">
                <a:extLst>
                  <a:ext uri="{FF2B5EF4-FFF2-40B4-BE49-F238E27FC236}">
                    <a16:creationId xmlns:a16="http://schemas.microsoft.com/office/drawing/2014/main" id="{BC532E85-E4E6-F2D1-30DE-155D994CCB1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69446" y="2359946"/>
                <a:ext cx="1421600" cy="14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5" name="Encre 24">
                <a:extLst>
                  <a:ext uri="{FF2B5EF4-FFF2-40B4-BE49-F238E27FC236}">
                    <a16:creationId xmlns:a16="http://schemas.microsoft.com/office/drawing/2014/main" id="{2B21800B-A74B-E5AB-F488-066DB109F112}"/>
                  </a:ext>
                </a:extLst>
              </p14:cNvPr>
              <p14:cNvContentPartPr/>
              <p14:nvPr/>
            </p14:nvContentPartPr>
            <p14:xfrm>
              <a:off x="2357082" y="2783575"/>
              <a:ext cx="14216" cy="14216"/>
            </p14:xfrm>
          </p:contentPart>
        </mc:Choice>
        <mc:Fallback xmlns="">
          <p:pic>
            <p:nvPicPr>
              <p:cNvPr id="25" name="Encre 24">
                <a:extLst>
                  <a:ext uri="{FF2B5EF4-FFF2-40B4-BE49-F238E27FC236}">
                    <a16:creationId xmlns:a16="http://schemas.microsoft.com/office/drawing/2014/main" id="{2B21800B-A74B-E5AB-F488-066DB109F11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60498" y="2086991"/>
                <a:ext cx="1421600" cy="14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6" name="Encre 25">
                <a:extLst>
                  <a:ext uri="{FF2B5EF4-FFF2-40B4-BE49-F238E27FC236}">
                    <a16:creationId xmlns:a16="http://schemas.microsoft.com/office/drawing/2014/main" id="{B429EA6F-0999-D679-438A-9615205E8334}"/>
                  </a:ext>
                </a:extLst>
              </p14:cNvPr>
              <p14:cNvContentPartPr/>
              <p14:nvPr/>
            </p14:nvContentPartPr>
            <p14:xfrm>
              <a:off x="7952664" y="2328649"/>
              <a:ext cx="14216" cy="14216"/>
            </p14:xfrm>
          </p:contentPart>
        </mc:Choice>
        <mc:Fallback xmlns="">
          <p:pic>
            <p:nvPicPr>
              <p:cNvPr id="26" name="Encre 25">
                <a:extLst>
                  <a:ext uri="{FF2B5EF4-FFF2-40B4-BE49-F238E27FC236}">
                    <a16:creationId xmlns:a16="http://schemas.microsoft.com/office/drawing/2014/main" id="{B429EA6F-0999-D679-438A-9615205E833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56080" y="1632065"/>
                <a:ext cx="1421600" cy="1421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333818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3B4E27-20D0-027F-BC75-C0F98C7EC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96" y="365125"/>
            <a:ext cx="6434204" cy="949782"/>
          </a:xfrm>
        </p:spPr>
        <p:txBody>
          <a:bodyPr>
            <a:normAutofit/>
          </a:bodyPr>
          <a:lstStyle/>
          <a:p>
            <a:r>
              <a:rPr lang="fr-FR" sz="4000" dirty="0">
                <a:latin typeface="Aptos"/>
                <a:ea typeface="Calibri"/>
                <a:cs typeface="Times New Roman"/>
              </a:rPr>
              <a:t>Conditions </a:t>
            </a:r>
            <a:r>
              <a:rPr lang="fr-FR" sz="4000">
                <a:latin typeface="Aptos"/>
                <a:ea typeface="Calibri"/>
                <a:cs typeface="Times New Roman"/>
              </a:rPr>
              <a:t>météorologiques</a:t>
            </a:r>
            <a:endParaRPr lang="fr-FR" sz="4000" dirty="0">
              <a:latin typeface="Aptos"/>
              <a:ea typeface="Calibri"/>
              <a:cs typeface="Times New Roman"/>
            </a:endParaRPr>
          </a:p>
        </p:txBody>
      </p:sp>
      <p:pic>
        <p:nvPicPr>
          <p:cNvPr id="4" name="Image 3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FFD70F0D-7942-4DBE-948D-AE7C591F34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027" r="137" b="-283"/>
          <a:stretch>
            <a:fillRect/>
          </a:stretch>
        </p:blipFill>
        <p:spPr>
          <a:xfrm>
            <a:off x="2302890" y="2715165"/>
            <a:ext cx="7589617" cy="3663316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6C5F075A-4101-D5F1-FEC8-568EA5477B59}"/>
              </a:ext>
            </a:extLst>
          </p:cNvPr>
          <p:cNvSpPr txBox="1"/>
          <p:nvPr/>
        </p:nvSpPr>
        <p:spPr>
          <a:xfrm>
            <a:off x="309018" y="1991764"/>
            <a:ext cx="1108872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dirty="0"/>
              <a:t>Nombre de livraisons en retard </a:t>
            </a:r>
            <a:r>
              <a:rPr lang="fr-FR" b="1">
                <a:solidFill>
                  <a:srgbClr val="FF0000"/>
                </a:solidFill>
              </a:rPr>
              <a:t>multiplié par 2 à 3</a:t>
            </a:r>
            <a:r>
              <a:rPr lang="fr-FR" dirty="0"/>
              <a:t> en </a:t>
            </a:r>
            <a:r>
              <a:rPr lang="fr-FR" b="1" dirty="0">
                <a:solidFill>
                  <a:srgbClr val="FF0000"/>
                </a:solidFill>
              </a:rPr>
              <a:t>conditions dégradées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Encre 2">
                <a:extLst>
                  <a:ext uri="{FF2B5EF4-FFF2-40B4-BE49-F238E27FC236}">
                    <a16:creationId xmlns:a16="http://schemas.microsoft.com/office/drawing/2014/main" id="{A59404F3-3213-FE99-416F-D768232DBE75}"/>
                  </a:ext>
                </a:extLst>
              </p14:cNvPr>
              <p14:cNvContentPartPr/>
              <p14:nvPr/>
            </p14:nvContentPartPr>
            <p14:xfrm>
              <a:off x="3084963" y="2192171"/>
              <a:ext cx="14216" cy="14216"/>
            </p14:xfrm>
          </p:contentPart>
        </mc:Choice>
        <mc:Fallback xmlns="">
          <p:pic>
            <p:nvPicPr>
              <p:cNvPr id="3" name="Encre 2">
                <a:extLst>
                  <a:ext uri="{FF2B5EF4-FFF2-40B4-BE49-F238E27FC236}">
                    <a16:creationId xmlns:a16="http://schemas.microsoft.com/office/drawing/2014/main" id="{A59404F3-3213-FE99-416F-D768232DBE7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74163" y="1495587"/>
                <a:ext cx="1421600" cy="14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Encre 5">
                <a:extLst>
                  <a:ext uri="{FF2B5EF4-FFF2-40B4-BE49-F238E27FC236}">
                    <a16:creationId xmlns:a16="http://schemas.microsoft.com/office/drawing/2014/main" id="{9EDD8B57-61C3-E4EC-EA6F-4F8D31A7E535}"/>
                  </a:ext>
                </a:extLst>
              </p14:cNvPr>
              <p14:cNvContentPartPr/>
              <p14:nvPr/>
            </p14:nvContentPartPr>
            <p14:xfrm>
              <a:off x="4449739" y="2078440"/>
              <a:ext cx="14216" cy="14216"/>
            </p14:xfrm>
          </p:contentPart>
        </mc:Choice>
        <mc:Fallback xmlns="">
          <p:pic>
            <p:nvPicPr>
              <p:cNvPr id="6" name="Encre 5">
                <a:extLst>
                  <a:ext uri="{FF2B5EF4-FFF2-40B4-BE49-F238E27FC236}">
                    <a16:creationId xmlns:a16="http://schemas.microsoft.com/office/drawing/2014/main" id="{9EDD8B57-61C3-E4EC-EA6F-4F8D31A7E53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38939" y="1367640"/>
                <a:ext cx="1421600" cy="1421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723208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877C4F-AE14-37F7-45B3-3CEFC0CC3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sz="3200" dirty="0">
                <a:latin typeface="Aptos"/>
              </a:rPr>
              <a:t>Facteurs peu </a:t>
            </a:r>
            <a:r>
              <a:rPr lang="fr-FR" sz="3200" dirty="0" err="1">
                <a:latin typeface="Aptos"/>
              </a:rPr>
              <a:t>impactants</a:t>
            </a:r>
            <a:endParaRPr lang="fr-FR" sz="3200" dirty="0" err="1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F0A582B-6847-FA54-5D71-37C96BAC55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r-FR" sz="2400">
                <a:solidFill>
                  <a:schemeClr val="tx1">
                    <a:lumMod val="49000"/>
                    <a:lumOff val="51000"/>
                  </a:schemeClr>
                </a:solidFill>
              </a:rPr>
              <a:t> Transporteur</a:t>
            </a:r>
          </a:p>
          <a:p>
            <a:r>
              <a:rPr lang="fr-FR" sz="2400">
                <a:solidFill>
                  <a:schemeClr val="tx1">
                    <a:lumMod val="49000"/>
                    <a:lumOff val="51000"/>
                  </a:schemeClr>
                </a:solidFill>
              </a:rPr>
              <a:t>Type de véhicule</a:t>
            </a:r>
          </a:p>
          <a:p>
            <a:r>
              <a:rPr lang="fr-FR" sz="2400">
                <a:solidFill>
                  <a:schemeClr val="tx1">
                    <a:lumMod val="49000"/>
                    <a:lumOff val="51000"/>
                  </a:schemeClr>
                </a:solidFill>
              </a:rPr>
              <a:t>Région</a:t>
            </a:r>
            <a:endParaRPr lang="fr-FR" sz="2400" dirty="0">
              <a:solidFill>
                <a:schemeClr val="tx1">
                  <a:lumMod val="49000"/>
                  <a:lumOff val="51000"/>
                </a:schemeClr>
              </a:solidFill>
            </a:endParaRPr>
          </a:p>
          <a:p>
            <a:r>
              <a:rPr lang="fr-FR" sz="2400">
                <a:solidFill>
                  <a:schemeClr val="tx1">
                    <a:lumMod val="49000"/>
                    <a:lumOff val="51000"/>
                  </a:schemeClr>
                </a:solidFill>
              </a:rPr>
              <a:t>Type de colis</a:t>
            </a:r>
          </a:p>
          <a:p>
            <a:r>
              <a:rPr lang="fr-FR" sz="2400">
                <a:solidFill>
                  <a:schemeClr val="tx1">
                    <a:lumMod val="49000"/>
                    <a:lumOff val="51000"/>
                  </a:schemeClr>
                </a:solidFill>
              </a:rPr>
              <a:t>Poids du colis</a:t>
            </a:r>
            <a:endParaRPr lang="fr-FR" sz="2400" dirty="0">
              <a:solidFill>
                <a:schemeClr val="tx1">
                  <a:lumMod val="49000"/>
                  <a:lumOff val="51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08910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B2009B-4553-0E28-0780-875C4DED3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524" y="2270125"/>
            <a:ext cx="10515600" cy="1325563"/>
          </a:xfrm>
        </p:spPr>
        <p:txBody>
          <a:bodyPr/>
          <a:lstStyle/>
          <a:p>
            <a:pPr algn="ctr"/>
            <a:r>
              <a:rPr lang="fr-FR"/>
              <a:t>RECOMMANDATIONS STRATEGIQUES</a:t>
            </a:r>
          </a:p>
        </p:txBody>
      </p:sp>
    </p:spTree>
    <p:extLst>
      <p:ext uri="{BB962C8B-B14F-4D97-AF65-F5344CB8AC3E}">
        <p14:creationId xmlns:p14="http://schemas.microsoft.com/office/powerpoint/2010/main" val="28589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51293C-5873-8BF8-54D6-6213681B9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>
                <a:latin typeface="Aptos"/>
                <a:cs typeface="Times New Roman"/>
              </a:rPr>
              <a:t>Recommandations : Mode de livraison</a:t>
            </a:r>
            <a:endParaRPr lang="fr-FR" sz="4000" dirty="0">
              <a:latin typeface="Aptos"/>
              <a:cs typeface="Times New Roman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87724CB-5613-F22E-3A0B-51AFAB10CD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242" y="1825625"/>
            <a:ext cx="3553216" cy="184613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fr-FR" dirty="0"/>
              <a:t>       </a:t>
            </a:r>
          </a:p>
        </p:txBody>
      </p:sp>
      <p:sp>
        <p:nvSpPr>
          <p:cNvPr id="4" name="Éclair 3">
            <a:extLst>
              <a:ext uri="{FF2B5EF4-FFF2-40B4-BE49-F238E27FC236}">
                <a16:creationId xmlns:a16="http://schemas.microsoft.com/office/drawing/2014/main" id="{20FD0A2F-C472-9314-1BB0-A34450959C83}"/>
              </a:ext>
            </a:extLst>
          </p:cNvPr>
          <p:cNvSpPr/>
          <p:nvPr/>
        </p:nvSpPr>
        <p:spPr>
          <a:xfrm>
            <a:off x="519030" y="1831304"/>
            <a:ext cx="420027" cy="476031"/>
          </a:xfrm>
          <a:prstGeom prst="lightningBol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29B179E-3A28-69DE-064C-68EC4913D94B}"/>
              </a:ext>
            </a:extLst>
          </p:cNvPr>
          <p:cNvSpPr txBox="1"/>
          <p:nvPr/>
        </p:nvSpPr>
        <p:spPr>
          <a:xfrm>
            <a:off x="941125" y="1830556"/>
            <a:ext cx="4161478" cy="166199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2800" b="1"/>
              <a:t>Réviser l'offre "Express"</a:t>
            </a:r>
            <a:endParaRPr lang="fr-FR" sz="2800"/>
          </a:p>
          <a:p>
            <a:endParaRPr lang="fr-FR" sz="1400" b="1" dirty="0"/>
          </a:p>
          <a:p>
            <a:pPr marL="342900" indent="-342900">
              <a:buFont typeface="Arial"/>
              <a:buChar char="•"/>
            </a:pPr>
            <a:r>
              <a:rPr lang="fr-FR" sz="2000"/>
              <a:t>Limiter l'offre aux courtes distances</a:t>
            </a:r>
          </a:p>
          <a:p>
            <a:pPr marL="342900" indent="-342900">
              <a:buFont typeface="Arial"/>
              <a:buChar char="•"/>
            </a:pPr>
            <a:r>
              <a:rPr lang="fr-FR" sz="2000" err="1"/>
              <a:t>Exempl</a:t>
            </a:r>
            <a:r>
              <a:rPr lang="fr-FR" sz="2000"/>
              <a:t>e : &lt; 150 km</a:t>
            </a:r>
            <a:endParaRPr lang="fr-FR" sz="2000" dirty="0"/>
          </a:p>
        </p:txBody>
      </p:sp>
      <p:pic>
        <p:nvPicPr>
          <p:cNvPr id="6" name="Image 5" descr="Une image contenant symbole, cercle, logo, conception&#10;&#10;Le contenu généré par l’IA peut être incorrect.">
            <a:extLst>
              <a:ext uri="{FF2B5EF4-FFF2-40B4-BE49-F238E27FC236}">
                <a16:creationId xmlns:a16="http://schemas.microsoft.com/office/drawing/2014/main" id="{D492C613-2FFF-1B25-6070-E79F32C67F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3150" y="4257219"/>
            <a:ext cx="900961" cy="817454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CCEE3180-7D7D-B6F9-4C8A-8B63C28F1333}"/>
              </a:ext>
            </a:extLst>
          </p:cNvPr>
          <p:cNvSpPr txBox="1"/>
          <p:nvPr/>
        </p:nvSpPr>
        <p:spPr>
          <a:xfrm>
            <a:off x="4812181" y="4457101"/>
            <a:ext cx="3808320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2800" b="1"/>
              <a:t>Adapter l'organisation</a:t>
            </a:r>
          </a:p>
          <a:p>
            <a:endParaRPr lang="fr-FR" sz="1600" b="1" dirty="0"/>
          </a:p>
          <a:p>
            <a:pPr marL="457200" indent="-457200">
              <a:buFont typeface="Arial"/>
              <a:buChar char="•"/>
            </a:pPr>
            <a:r>
              <a:rPr lang="fr-FR" sz="2000"/>
              <a:t>Prioriser les livraisons "express"</a:t>
            </a:r>
            <a:endParaRPr lang="fr-FR" sz="2000" dirty="0"/>
          </a:p>
          <a:p>
            <a:pPr marL="457200" indent="-457200">
              <a:buFont typeface="Arial"/>
              <a:buChar char="•"/>
            </a:pPr>
            <a:r>
              <a:rPr lang="fr-FR" sz="2000" dirty="0"/>
              <a:t>Instaurer des </a:t>
            </a:r>
            <a:r>
              <a:rPr lang="fr-FR" sz="2000"/>
              <a:t>créneaux</a:t>
            </a:r>
            <a:r>
              <a:rPr lang="fr-FR" sz="2000" dirty="0"/>
              <a:t> de nuit</a:t>
            </a:r>
          </a:p>
        </p:txBody>
      </p:sp>
      <p:pic>
        <p:nvPicPr>
          <p:cNvPr id="8" name="Image 7" descr="Une image contenant carton, Empaquetage et étiquetage, Transport maritime, Livraison de colis&#10;&#10;Le contenu généré par l’IA peut être incorrect.">
            <a:extLst>
              <a:ext uri="{FF2B5EF4-FFF2-40B4-BE49-F238E27FC236}">
                <a16:creationId xmlns:a16="http://schemas.microsoft.com/office/drawing/2014/main" id="{62490449-6EF6-ED00-5F14-2CAD7CC811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0794" y="1835519"/>
            <a:ext cx="1245427" cy="1161920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E42ED161-BA58-8F69-ECF4-6C1948BE69CF}"/>
              </a:ext>
            </a:extLst>
          </p:cNvPr>
          <p:cNvSpPr txBox="1"/>
          <p:nvPr/>
        </p:nvSpPr>
        <p:spPr>
          <a:xfrm>
            <a:off x="8330224" y="2067326"/>
            <a:ext cx="3382662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2800" b="1"/>
              <a:t>Ajuster les options</a:t>
            </a:r>
          </a:p>
          <a:p>
            <a:endParaRPr lang="fr-FR" sz="1600" b="1" dirty="0"/>
          </a:p>
          <a:p>
            <a:pPr marL="457200" indent="-457200">
              <a:buFont typeface="Arial"/>
              <a:buChar char="•"/>
            </a:pPr>
            <a:r>
              <a:rPr lang="fr-FR" sz="2000" dirty="0"/>
              <a:t>Valoriser l'offre "</a:t>
            </a:r>
            <a:r>
              <a:rPr lang="fr-FR" sz="2000" dirty="0" err="1"/>
              <a:t>Two</a:t>
            </a:r>
            <a:r>
              <a:rPr lang="fr-FR" sz="2000" dirty="0"/>
              <a:t> Day" efficace</a:t>
            </a:r>
          </a:p>
        </p:txBody>
      </p:sp>
    </p:spTree>
    <p:extLst>
      <p:ext uri="{BB962C8B-B14F-4D97-AF65-F5344CB8AC3E}">
        <p14:creationId xmlns:p14="http://schemas.microsoft.com/office/powerpoint/2010/main" val="33782427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EA586A-06DA-A95E-028E-7CC8A87DC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sz="4000">
                <a:latin typeface="Aptos"/>
              </a:rPr>
              <a:t>Recommandations : Distance</a:t>
            </a:r>
            <a:endParaRPr lang="fr-FR"/>
          </a:p>
        </p:txBody>
      </p:sp>
      <p:pic>
        <p:nvPicPr>
          <p:cNvPr id="4" name="Espace réservé du contenu 3" descr="Une image contenant Graphique, clipart, Police, logo&#10;&#10;Le contenu généré par l’IA peut être incorrect.">
            <a:extLst>
              <a:ext uri="{FF2B5EF4-FFF2-40B4-BE49-F238E27FC236}">
                <a16:creationId xmlns:a16="http://schemas.microsoft.com/office/drawing/2014/main" id="{743E379A-CA80-4B05-5C04-FEA4BB8F2E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0551" y="1915271"/>
            <a:ext cx="989575" cy="922341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D7B9EDFA-BAB5-8817-BD9B-9BE79FF124DF}"/>
              </a:ext>
            </a:extLst>
          </p:cNvPr>
          <p:cNvSpPr txBox="1"/>
          <p:nvPr/>
        </p:nvSpPr>
        <p:spPr>
          <a:xfrm>
            <a:off x="1629671" y="2086033"/>
            <a:ext cx="3696574" cy="18466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2800" b="1" dirty="0"/>
              <a:t>Développement d'un réseau </a:t>
            </a:r>
            <a:r>
              <a:rPr lang="fr-FR" sz="2800" b="1"/>
              <a:t>logistique</a:t>
            </a:r>
            <a:endParaRPr lang="fr-FR" sz="2800" b="1" dirty="0"/>
          </a:p>
          <a:p>
            <a:endParaRPr lang="fr-FR" sz="1600" b="1" dirty="0"/>
          </a:p>
          <a:p>
            <a:pPr marL="457200" indent="-457200">
              <a:buFont typeface="Arial"/>
              <a:buChar char="•"/>
            </a:pPr>
            <a:r>
              <a:rPr lang="fr-FR" sz="2000"/>
              <a:t>Centres intermédiaires</a:t>
            </a:r>
          </a:p>
          <a:p>
            <a:pPr marL="457200" indent="-457200">
              <a:buFont typeface="Arial"/>
              <a:buChar char="•"/>
            </a:pPr>
            <a:r>
              <a:rPr lang="fr-FR" sz="2000"/>
              <a:t>Stock réparti</a:t>
            </a:r>
            <a:endParaRPr lang="fr-FR" sz="2000" dirty="0"/>
          </a:p>
        </p:txBody>
      </p:sp>
      <p:pic>
        <p:nvPicPr>
          <p:cNvPr id="6" name="Image 5" descr="Une image contenant roue&#10;&#10;Le contenu généré par l’IA peut être incorrect.">
            <a:extLst>
              <a:ext uri="{FF2B5EF4-FFF2-40B4-BE49-F238E27FC236}">
                <a16:creationId xmlns:a16="http://schemas.microsoft.com/office/drawing/2014/main" id="{6B7A0EB6-6756-19D1-CCBB-CBE14F4413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2349" y="2166937"/>
            <a:ext cx="1425950" cy="1325098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E0F07F9E-1EB3-42BB-50C7-03993FB42888}"/>
              </a:ext>
            </a:extLst>
          </p:cNvPr>
          <p:cNvSpPr txBox="1"/>
          <p:nvPr/>
        </p:nvSpPr>
        <p:spPr>
          <a:xfrm>
            <a:off x="8571252" y="2601401"/>
            <a:ext cx="3461226" cy="18466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2800" b="1" dirty="0"/>
              <a:t>Réduction des </a:t>
            </a:r>
            <a:r>
              <a:rPr lang="fr-FR" sz="2800" b="1"/>
              <a:t>longues distances</a:t>
            </a:r>
          </a:p>
          <a:p>
            <a:endParaRPr lang="fr-FR" b="1" dirty="0"/>
          </a:p>
          <a:p>
            <a:pPr marL="457200" indent="-457200">
              <a:buFont typeface="Arial"/>
              <a:buChar char="•"/>
            </a:pPr>
            <a:r>
              <a:rPr lang="fr-FR" sz="2000" dirty="0"/>
              <a:t>Diviser les trajets </a:t>
            </a:r>
            <a:r>
              <a:rPr lang="fr-FR" sz="2000"/>
              <a:t>longs</a:t>
            </a:r>
            <a:endParaRPr lang="fr-FR" sz="2000" dirty="0"/>
          </a:p>
          <a:p>
            <a:pPr marL="457200" indent="-457200">
              <a:buFont typeface="Arial"/>
              <a:buChar char="•"/>
            </a:pPr>
            <a:r>
              <a:rPr lang="fr-FR" sz="2000"/>
              <a:t>Livraisons plus courtes</a:t>
            </a:r>
            <a:endParaRPr lang="fr-FR" b="1" dirty="0"/>
          </a:p>
        </p:txBody>
      </p:sp>
      <p:pic>
        <p:nvPicPr>
          <p:cNvPr id="9" name="Image 8" descr="Une image contenant symbole, cercle, logo, conception&#10;&#10;Le contenu généré par l’IA peut être incorrect.">
            <a:extLst>
              <a:ext uri="{FF2B5EF4-FFF2-40B4-BE49-F238E27FC236}">
                <a16:creationId xmlns:a16="http://schemas.microsoft.com/office/drawing/2014/main" id="{5D83B1B0-66EB-63DF-B4B1-3C95D01053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8173" y="4901173"/>
            <a:ext cx="988920" cy="977715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BAF2EAC1-9EB7-0FC0-FB90-A4C481D88DDF}"/>
              </a:ext>
            </a:extLst>
          </p:cNvPr>
          <p:cNvSpPr txBox="1"/>
          <p:nvPr/>
        </p:nvSpPr>
        <p:spPr>
          <a:xfrm>
            <a:off x="4751848" y="5183262"/>
            <a:ext cx="3528230" cy="141577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2800" b="1" dirty="0"/>
              <a:t>Adapt</a:t>
            </a:r>
            <a:r>
              <a:rPr lang="fr-FR" sz="2800" b="1"/>
              <a:t>er les délais</a:t>
            </a:r>
          </a:p>
          <a:p>
            <a:endParaRPr lang="fr-FR" sz="1600" b="1" dirty="0"/>
          </a:p>
          <a:p>
            <a:pPr marL="457200" indent="-457200">
              <a:buFont typeface="Arial"/>
              <a:buChar char="•"/>
            </a:pPr>
            <a:r>
              <a:rPr lang="fr-FR" sz="2000"/>
              <a:t>Selon la distance</a:t>
            </a:r>
          </a:p>
          <a:p>
            <a:pPr marL="457200" indent="-457200">
              <a:buFont typeface="Arial"/>
              <a:buChar char="•"/>
            </a:pPr>
            <a:r>
              <a:rPr lang="fr-FR" sz="2000"/>
              <a:t>Seuil 150 km</a:t>
            </a: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33860945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7D3DCD-3053-95CB-FE8B-E19D49E02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sz="4000" dirty="0">
                <a:latin typeface="Aptos"/>
              </a:rPr>
              <a:t>Recommandations : Conditions </a:t>
            </a:r>
            <a:r>
              <a:rPr lang="fr-FR" sz="4000">
                <a:latin typeface="Aptos"/>
              </a:rPr>
              <a:t>météorologiques</a:t>
            </a:r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ED1C4F6-257A-4A99-4345-714B75FAF9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2965" y="2049743"/>
            <a:ext cx="3030071" cy="161710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fr-FR" b="1"/>
              <a:t>Anticipation</a:t>
            </a:r>
          </a:p>
          <a:p>
            <a:r>
              <a:rPr lang="fr-FR" sz="2100"/>
              <a:t>Suivi précis météo</a:t>
            </a:r>
            <a:endParaRPr lang="fr-FR" sz="2100" dirty="0"/>
          </a:p>
          <a:p>
            <a:r>
              <a:rPr lang="fr-FR" sz="2100" dirty="0"/>
              <a:t>Identification période à </a:t>
            </a:r>
            <a:r>
              <a:rPr lang="fr-FR" sz="2100"/>
              <a:t>risques</a:t>
            </a:r>
            <a:endParaRPr lang="fr-FR" sz="2100" dirty="0"/>
          </a:p>
        </p:txBody>
      </p:sp>
      <p:pic>
        <p:nvPicPr>
          <p:cNvPr id="4" name="Image 3" descr="Une image contenant clipart, créativité&#10;&#10;Le contenu généré par l’IA peut être incorrect.">
            <a:extLst>
              <a:ext uri="{FF2B5EF4-FFF2-40B4-BE49-F238E27FC236}">
                <a16:creationId xmlns:a16="http://schemas.microsoft.com/office/drawing/2014/main" id="{A2B8BA35-76DF-890B-BBB0-C55ECB8112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702" y="1909202"/>
            <a:ext cx="944097" cy="944097"/>
          </a:xfrm>
          <a:prstGeom prst="rect">
            <a:avLst/>
          </a:prstGeom>
        </p:spPr>
      </p:pic>
      <p:pic>
        <p:nvPicPr>
          <p:cNvPr id="5" name="Image 4" descr="Une image contenant clipart, symbole, Police, Graphique&#10;&#10;Le contenu généré par l’IA peut être incorrect.">
            <a:extLst>
              <a:ext uri="{FF2B5EF4-FFF2-40B4-BE49-F238E27FC236}">
                <a16:creationId xmlns:a16="http://schemas.microsoft.com/office/drawing/2014/main" id="{9779D4A1-FDD3-02EA-4421-4B22A6E98A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4585" y="4576201"/>
            <a:ext cx="1056156" cy="1033745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E135783E-8AD6-E319-9EE6-E863B75941EA}"/>
              </a:ext>
            </a:extLst>
          </p:cNvPr>
          <p:cNvSpPr txBox="1"/>
          <p:nvPr/>
        </p:nvSpPr>
        <p:spPr>
          <a:xfrm>
            <a:off x="6369953" y="4914887"/>
            <a:ext cx="3556232" cy="13542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2800" b="1"/>
              <a:t>Mieux communiquer</a:t>
            </a:r>
          </a:p>
          <a:p>
            <a:endParaRPr lang="fr-FR" sz="1400" b="1" dirty="0"/>
          </a:p>
          <a:p>
            <a:pPr marL="457200" indent="-457200">
              <a:buFont typeface="Arial"/>
              <a:buChar char="•"/>
            </a:pPr>
            <a:r>
              <a:rPr lang="fr-FR" sz="2000"/>
              <a:t>Informer les clients</a:t>
            </a:r>
          </a:p>
          <a:p>
            <a:pPr marL="457200" indent="-457200">
              <a:buFont typeface="Arial"/>
              <a:buChar char="•"/>
            </a:pPr>
            <a:r>
              <a:rPr lang="fr-FR" sz="2000"/>
              <a:t>Gérer les attentes</a:t>
            </a:r>
            <a:endParaRPr lang="fr-FR" sz="2800" dirty="0"/>
          </a:p>
        </p:txBody>
      </p:sp>
      <p:pic>
        <p:nvPicPr>
          <p:cNvPr id="7" name="Image 6" descr="Une image contenant symbole, cercle, logo, conception&#10;&#10;Le contenu généré par l’IA peut être incorrect.">
            <a:extLst>
              <a:ext uri="{FF2B5EF4-FFF2-40B4-BE49-F238E27FC236}">
                <a16:creationId xmlns:a16="http://schemas.microsoft.com/office/drawing/2014/main" id="{65D7F2C3-E178-415B-31F1-3AD8405575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3203" y="2054878"/>
            <a:ext cx="1011332" cy="988921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FE44160A-9A4F-990A-2F0E-430F927658B7}"/>
              </a:ext>
            </a:extLst>
          </p:cNvPr>
          <p:cNvSpPr txBox="1"/>
          <p:nvPr/>
        </p:nvSpPr>
        <p:spPr>
          <a:xfrm>
            <a:off x="8386548" y="2226145"/>
            <a:ext cx="3388221" cy="13003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2800" b="1"/>
              <a:t>Adapter les délais</a:t>
            </a:r>
          </a:p>
          <a:p>
            <a:endParaRPr lang="fr-FR" sz="1050" b="1" dirty="0"/>
          </a:p>
          <a:p>
            <a:pPr marL="342900" indent="-342900">
              <a:buFont typeface="Arial"/>
              <a:buChar char="•"/>
            </a:pPr>
            <a:r>
              <a:rPr lang="fr-FR" sz="2000"/>
              <a:t>Ajuster en cas de conditions défavorables</a:t>
            </a: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830867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968DB7-7121-71B7-114B-4C7D5C052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/>
              <a:t>CONCLUSION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B6F2D22-6EAE-70E2-8D6A-BAB5386C7497}"/>
              </a:ext>
            </a:extLst>
          </p:cNvPr>
          <p:cNvSpPr txBox="1"/>
          <p:nvPr/>
        </p:nvSpPr>
        <p:spPr>
          <a:xfrm>
            <a:off x="812053" y="2016131"/>
            <a:ext cx="10612693" cy="20928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fr-FR" sz="28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Réd</a:t>
            </a:r>
            <a:r>
              <a:rPr lang="fr-FR" sz="2800" b="1">
                <a:solidFill>
                  <a:schemeClr val="accent3">
                    <a:lumMod val="60000"/>
                    <a:lumOff val="40000"/>
                  </a:schemeClr>
                </a:solidFill>
              </a:rPr>
              <a:t>uction des retards de livraison</a:t>
            </a:r>
            <a:endParaRPr lang="fr-FR" sz="28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fr-FR" sz="28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Amélioration de la satisfact</a:t>
            </a:r>
            <a:r>
              <a:rPr lang="fr-FR" sz="2800" b="1">
                <a:solidFill>
                  <a:schemeClr val="accent3">
                    <a:lumMod val="60000"/>
                    <a:lumOff val="40000"/>
                  </a:schemeClr>
                </a:solidFill>
              </a:rPr>
              <a:t>ion client</a:t>
            </a:r>
            <a:endParaRPr lang="fr-FR" sz="28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fr-FR" sz="2800" b="1">
                <a:solidFill>
                  <a:schemeClr val="accent3">
                    <a:lumMod val="60000"/>
                    <a:lumOff val="40000"/>
                  </a:schemeClr>
                </a:solidFill>
              </a:rPr>
              <a:t>Optimisation des coûts </a:t>
            </a:r>
            <a:endParaRPr lang="fr-FR" sz="28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fr-FR" sz="2800" b="1">
                <a:solidFill>
                  <a:schemeClr val="accent3">
                    <a:lumMod val="60000"/>
                    <a:lumOff val="40000"/>
                  </a:schemeClr>
                </a:solidFill>
              </a:rPr>
              <a:t>Renforcement de l'image de l'entreprise </a:t>
            </a:r>
            <a:endParaRPr lang="fr-FR" sz="28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108684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Grand écran</PresentationFormat>
  <Paragraphs>0</Paragraphs>
  <Slides>16</Slides>
  <Notes>0</Notes>
  <HiddenSlides>1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17" baseType="lpstr">
      <vt:lpstr>Office Theme</vt:lpstr>
      <vt:lpstr>PROJET FINAL :  Analyse des retards de livraison </vt:lpstr>
      <vt:lpstr>INTRODUCTION</vt:lpstr>
      <vt:lpstr>Présentation PowerPoint</vt:lpstr>
      <vt:lpstr>PLAN</vt:lpstr>
      <vt:lpstr>Performance des livraisons : situation actuelle </vt:lpstr>
      <vt:lpstr>Présentation PowerPoint</vt:lpstr>
      <vt:lpstr>2.    Facteurs impactants les délais de livraison</vt:lpstr>
      <vt:lpstr>Présentation PowerPoint</vt:lpstr>
      <vt:lpstr>Distance de livraison </vt:lpstr>
      <vt:lpstr>Conditions météorologiques</vt:lpstr>
      <vt:lpstr>Facteurs peu impactants</vt:lpstr>
      <vt:lpstr>RECOMMANDATIONS STRATEGIQUES</vt:lpstr>
      <vt:lpstr>Recommandations : Mode de livraison</vt:lpstr>
      <vt:lpstr>Recommandations : Distance</vt:lpstr>
      <vt:lpstr>Recommandations : Conditions météorologiques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780</cp:revision>
  <dcterms:created xsi:type="dcterms:W3CDTF">2026-04-23T16:13:02Z</dcterms:created>
  <dcterms:modified xsi:type="dcterms:W3CDTF">2026-04-27T14:26:09Z</dcterms:modified>
</cp:coreProperties>
</file>